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65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6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7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3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7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06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71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62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12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6170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38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24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21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11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01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19B09-5854-463D-B2A6-E452765ED4A5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0A5A3-B996-4270-BC90-0D34F1640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999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07388D-4BB4-33B3-ACFF-9741BB5BE0CE}"/>
              </a:ext>
            </a:extLst>
          </p:cNvPr>
          <p:cNvSpPr txBox="1"/>
          <p:nvPr/>
        </p:nvSpPr>
        <p:spPr>
          <a:xfrm>
            <a:off x="3018503" y="1828800"/>
            <a:ext cx="74430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/>
              <a:t>NorthWind</a:t>
            </a:r>
            <a:r>
              <a:rPr lang="en-US" sz="5400" b="1" dirty="0"/>
              <a:t> Retail Data Analysis </a:t>
            </a:r>
            <a:endParaRPr lang="en-IN" sz="5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09B6A-197C-08DE-3885-C9ECAFF7088F}"/>
              </a:ext>
            </a:extLst>
          </p:cNvPr>
          <p:cNvSpPr txBox="1"/>
          <p:nvPr/>
        </p:nvSpPr>
        <p:spPr>
          <a:xfrm>
            <a:off x="8111613" y="5498379"/>
            <a:ext cx="2546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PowerBI</a:t>
            </a:r>
            <a:r>
              <a:rPr lang="en-US" sz="2000" b="1" dirty="0"/>
              <a:t> Dashboards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2176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922F12-6F9F-AF03-6A0E-110ABFBCF54C}"/>
              </a:ext>
            </a:extLst>
          </p:cNvPr>
          <p:cNvSpPr/>
          <p:nvPr/>
        </p:nvSpPr>
        <p:spPr>
          <a:xfrm>
            <a:off x="0" y="0"/>
            <a:ext cx="12192000" cy="7213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NorthWind</a:t>
            </a:r>
            <a:r>
              <a:rPr lang="en-US" dirty="0"/>
              <a:t> Retail Dataset </a:t>
            </a:r>
            <a:r>
              <a:rPr lang="en-US" dirty="0" err="1"/>
              <a:t>Ananlysis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F3B8AF-09CD-1AA2-241E-48DFDA19320F}"/>
              </a:ext>
            </a:extLst>
          </p:cNvPr>
          <p:cNvSpPr/>
          <p:nvPr/>
        </p:nvSpPr>
        <p:spPr>
          <a:xfrm>
            <a:off x="0" y="959485"/>
            <a:ext cx="2310581" cy="72136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Customer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B80D17-FCCF-0FA8-73F1-D5DEA91E200D}"/>
              </a:ext>
            </a:extLst>
          </p:cNvPr>
          <p:cNvSpPr/>
          <p:nvPr/>
        </p:nvSpPr>
        <p:spPr>
          <a:xfrm>
            <a:off x="-1" y="1786890"/>
            <a:ext cx="2310581" cy="624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Orders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871ABE-8A68-85D9-A189-71A7F903CBFE}"/>
              </a:ext>
            </a:extLst>
          </p:cNvPr>
          <p:cNvSpPr/>
          <p:nvPr/>
        </p:nvSpPr>
        <p:spPr>
          <a:xfrm>
            <a:off x="-3" y="3938905"/>
            <a:ext cx="2310581" cy="624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Category 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11147A-5370-A9C5-B3D5-07118AB119A8}"/>
              </a:ext>
            </a:extLst>
          </p:cNvPr>
          <p:cNvSpPr/>
          <p:nvPr/>
        </p:nvSpPr>
        <p:spPr>
          <a:xfrm>
            <a:off x="0" y="4669790"/>
            <a:ext cx="2310581" cy="624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Analysis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2C85B8-941B-8123-F0BA-E6C87ED82C47}"/>
              </a:ext>
            </a:extLst>
          </p:cNvPr>
          <p:cNvSpPr/>
          <p:nvPr/>
        </p:nvSpPr>
        <p:spPr>
          <a:xfrm>
            <a:off x="0" y="5400675"/>
            <a:ext cx="2310581" cy="60452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Employee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956871-0A4E-9E88-2851-4CFD36CB7701}"/>
              </a:ext>
            </a:extLst>
          </p:cNvPr>
          <p:cNvSpPr/>
          <p:nvPr/>
        </p:nvSpPr>
        <p:spPr>
          <a:xfrm>
            <a:off x="-2" y="6111240"/>
            <a:ext cx="2310581" cy="6883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Shipper Analysis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CC45BA-0EBF-B4B1-9E6D-68BB1C068147}"/>
              </a:ext>
            </a:extLst>
          </p:cNvPr>
          <p:cNvSpPr/>
          <p:nvPr/>
        </p:nvSpPr>
        <p:spPr>
          <a:xfrm>
            <a:off x="0" y="2517775"/>
            <a:ext cx="2310581" cy="5842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Details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7BC33E-7FE7-B2D2-DD4A-5ADFE3DE3C7C}"/>
              </a:ext>
            </a:extLst>
          </p:cNvPr>
          <p:cNvSpPr/>
          <p:nvPr/>
        </p:nvSpPr>
        <p:spPr>
          <a:xfrm>
            <a:off x="-4" y="3208020"/>
            <a:ext cx="2310581" cy="6248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Product Analysis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1D183A-3E6B-56FE-A144-2A62277C8A4C}"/>
              </a:ext>
            </a:extLst>
          </p:cNvPr>
          <p:cNvGrpSpPr/>
          <p:nvPr/>
        </p:nvGrpSpPr>
        <p:grpSpPr>
          <a:xfrm>
            <a:off x="2509520" y="838546"/>
            <a:ext cx="9357360" cy="6019355"/>
            <a:chOff x="2600960" y="853498"/>
            <a:chExt cx="9357360" cy="601935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5D10394-1AD9-0177-F1BE-C573925EBC26}"/>
                </a:ext>
              </a:extLst>
            </p:cNvPr>
            <p:cNvSpPr/>
            <p:nvPr/>
          </p:nvSpPr>
          <p:spPr>
            <a:xfrm>
              <a:off x="2600960" y="853498"/>
              <a:ext cx="9357360" cy="73088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Customers are spread across multiple countries, showing a wide global presence.</a:t>
              </a:r>
            </a:p>
            <a:p>
              <a:pPr algn="ctr"/>
              <a:r>
                <a:rPr lang="en-US" sz="1200" dirty="0"/>
                <a:t>Most contacts are business roles like Owners and Sales Representatives, indicating B2B nature.</a:t>
              </a:r>
            </a:p>
            <a:p>
              <a:pPr algn="ctr"/>
              <a:r>
                <a:rPr lang="en-US" sz="1200" dirty="0"/>
                <a:t>Strong repeat order behavior suggests solid customer engagement and loyalty.</a:t>
              </a:r>
              <a:endParaRPr lang="en-US" sz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DD681CA-D678-79CE-CC0E-C82704CB33C0}"/>
                </a:ext>
              </a:extLst>
            </p:cNvPr>
            <p:cNvSpPr/>
            <p:nvPr/>
          </p:nvSpPr>
          <p:spPr>
            <a:xfrm>
              <a:off x="2641600" y="1630489"/>
              <a:ext cx="9276080" cy="73088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Total orders are high, but the trend shows a gradual decline over time.</a:t>
              </a:r>
            </a:p>
            <a:p>
              <a:pPr algn="ctr"/>
              <a:r>
                <a:rPr lang="en-US" sz="1200" dirty="0"/>
                <a:t>This fall may reflect seasonal demand changes or reduced purchasing activity.</a:t>
              </a:r>
            </a:p>
            <a:p>
              <a:pPr algn="ctr"/>
              <a:r>
                <a:rPr lang="en-US" sz="1200" dirty="0"/>
                <a:t>Continuous monitoring is needed to identify the exact reason and prevent future dips.</a:t>
              </a:r>
            </a:p>
            <a:p>
              <a:pPr algn="ctr"/>
              <a:endParaRPr lang="en-IN" sz="1400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D5EF538-D5A0-23E0-ED98-625FE34A7E53}"/>
                </a:ext>
              </a:extLst>
            </p:cNvPr>
            <p:cNvSpPr/>
            <p:nvPr/>
          </p:nvSpPr>
          <p:spPr>
            <a:xfrm>
              <a:off x="2641600" y="2407480"/>
              <a:ext cx="9276080" cy="65217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Most orders fall into mid-value price ranges, showing balanced purchasing behavior</a:t>
              </a:r>
              <a:r>
                <a:rPr lang="en-US" b="1" dirty="0"/>
                <a:t>.</a:t>
              </a:r>
              <a:endParaRPr lang="en-IN" b="1" dirty="0"/>
            </a:p>
            <a:p>
              <a:pPr algn="ctr"/>
              <a:r>
                <a:rPr lang="en-US" sz="1200" b="1" dirty="0"/>
                <a:t>Discounts are used sparingly, meaning full-price sales drive most revenue.</a:t>
              </a:r>
            </a:p>
            <a:p>
              <a:pPr algn="ctr"/>
              <a:r>
                <a:rPr lang="en-US" sz="1200" b="1" dirty="0"/>
                <a:t>A small set of high-value transactions significantly boosts overall revenue.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9757968-7E45-1BA7-23C5-F95028B7BA29}"/>
                </a:ext>
              </a:extLst>
            </p:cNvPr>
            <p:cNvSpPr/>
            <p:nvPr/>
          </p:nvSpPr>
          <p:spPr>
            <a:xfrm>
              <a:off x="2641600" y="3136136"/>
              <a:ext cx="9276080" cy="696724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Only a few premium products generate the majority of total revenue</a:t>
              </a:r>
              <a:r>
                <a:rPr lang="en-US" b="1" dirty="0"/>
                <a:t>.</a:t>
              </a:r>
            </a:p>
            <a:p>
              <a:pPr algn="ctr"/>
              <a:r>
                <a:rPr lang="en-US" sz="1200" b="1" dirty="0"/>
                <a:t>Best-selling items like Côte de </a:t>
              </a:r>
              <a:r>
                <a:rPr lang="en-US" sz="1200" b="1" dirty="0" err="1"/>
                <a:t>Blaye</a:t>
              </a:r>
              <a:r>
                <a:rPr lang="en-US" sz="1200" b="1" dirty="0"/>
                <a:t> have a disproportionate impact on sales.</a:t>
              </a:r>
            </a:p>
            <a:p>
              <a:pPr algn="ctr"/>
              <a:r>
                <a:rPr lang="en-US" sz="1200" b="1" dirty="0"/>
                <a:t>Product portfolio has many items, but only select products truly drive performance.</a:t>
              </a:r>
              <a:endParaRPr lang="en-IN" sz="1200" b="1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A3AB0B9-CD1D-0717-B073-E0B5F0F7A016}"/>
                </a:ext>
              </a:extLst>
            </p:cNvPr>
            <p:cNvSpPr/>
            <p:nvPr/>
          </p:nvSpPr>
          <p:spPr>
            <a:xfrm>
              <a:off x="2641600" y="3875404"/>
              <a:ext cx="9276080" cy="669907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Beverages and Dairy Products are the strongest revenue-generating categories.</a:t>
              </a:r>
            </a:p>
            <a:p>
              <a:pPr algn="ctr"/>
              <a:r>
                <a:rPr lang="en-US" sz="1200" b="1" dirty="0"/>
                <a:t>These categories consistently outperform others across sales metrics.</a:t>
              </a:r>
            </a:p>
            <a:p>
              <a:pPr algn="ctr"/>
              <a:r>
                <a:rPr lang="en-US" sz="1200" b="1" dirty="0"/>
                <a:t>Lower-performing categories require strategic pricing or marketing support.</a:t>
              </a:r>
              <a:endParaRPr lang="en-IN" sz="1200" b="1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E9780F5-40A6-5F4C-2743-390D6087C20B}"/>
                </a:ext>
              </a:extLst>
            </p:cNvPr>
            <p:cNvSpPr/>
            <p:nvPr/>
          </p:nvSpPr>
          <p:spPr>
            <a:xfrm>
              <a:off x="2682240" y="4612857"/>
              <a:ext cx="9276080" cy="69672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A small number of suppliers contribute heavily to total product revenue.</a:t>
              </a:r>
            </a:p>
            <a:p>
              <a:pPr algn="ctr"/>
              <a:r>
                <a:rPr lang="en-US" sz="1200" b="1" dirty="0"/>
                <a:t>Suppliers are mainly located in Europe and North America, showing regional concentration.</a:t>
              </a:r>
            </a:p>
            <a:p>
              <a:pPr algn="ctr"/>
              <a:r>
                <a:rPr lang="en-US" sz="1200" b="1" dirty="0"/>
                <a:t>High dependency on top suppliers indicates both risk and negotiation advantage.</a:t>
              </a:r>
              <a:endParaRPr lang="en-IN" sz="1200" b="1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E98C777-6D30-7706-E55D-7C4C27B5152F}"/>
                </a:ext>
              </a:extLst>
            </p:cNvPr>
            <p:cNvSpPr/>
            <p:nvPr/>
          </p:nvSpPr>
          <p:spPr>
            <a:xfrm>
              <a:off x="2641600" y="5352444"/>
              <a:ext cx="9276080" cy="73088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Workforce is small and primarily made up of Sales Representatives.</a:t>
              </a:r>
            </a:p>
            <a:p>
              <a:pPr algn="ctr"/>
              <a:r>
                <a:rPr lang="en-US" sz="1200" b="1" dirty="0"/>
                <a:t>Employee distribution is mainly centered in the U.S., with limited global presence.</a:t>
              </a:r>
            </a:p>
            <a:p>
              <a:pPr algn="ctr"/>
              <a:r>
                <a:rPr lang="en-US" sz="1200" b="1" dirty="0"/>
                <a:t>Organizational structure is sales-focused, reflecting business model priorities.</a:t>
              </a:r>
              <a:endParaRPr lang="en-IN" sz="1200" b="1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4B481F3-3BDB-0405-895C-558876B388C9}"/>
                </a:ext>
              </a:extLst>
            </p:cNvPr>
            <p:cNvSpPr/>
            <p:nvPr/>
          </p:nvSpPr>
          <p:spPr>
            <a:xfrm>
              <a:off x="2641600" y="6141968"/>
              <a:ext cx="9276080" cy="73088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Average delivery times differ significantly across shipping partners.</a:t>
              </a:r>
            </a:p>
            <a:p>
              <a:pPr algn="ctr"/>
              <a:r>
                <a:rPr lang="en-US" sz="1200" b="1" dirty="0"/>
                <a:t>Some shippers consistently take longer, leading to overall shipment delays.</a:t>
              </a:r>
            </a:p>
            <a:p>
              <a:pPr algn="ctr"/>
              <a:r>
                <a:rPr lang="en-US" sz="1200" b="1" dirty="0"/>
                <a:t>Choosing faster shippers can positively improve customer satisfaction and efficiency</a:t>
              </a:r>
              <a:r>
                <a:rPr lang="en-US" sz="1200" dirty="0"/>
                <a:t>.</a:t>
              </a:r>
              <a:endParaRPr lang="en-I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74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3E582A8-D5D8-F382-B551-FF03D36494A2}"/>
              </a:ext>
            </a:extLst>
          </p:cNvPr>
          <p:cNvGrpSpPr/>
          <p:nvPr/>
        </p:nvGrpSpPr>
        <p:grpSpPr>
          <a:xfrm>
            <a:off x="172720" y="81280"/>
            <a:ext cx="11856720" cy="6685280"/>
            <a:chOff x="172720" y="81280"/>
            <a:chExt cx="11856720" cy="66852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8CB324-2C37-2C93-DDBD-B6F7E7644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20" y="772160"/>
              <a:ext cx="11856720" cy="5994400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9503121-01D7-F41F-909F-6988578F0156}"/>
                </a:ext>
              </a:extLst>
            </p:cNvPr>
            <p:cNvSpPr/>
            <p:nvPr/>
          </p:nvSpPr>
          <p:spPr>
            <a:xfrm>
              <a:off x="274320" y="81280"/>
              <a:ext cx="11562080" cy="548640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ER-Diagram /Data Modeling of </a:t>
              </a:r>
              <a:r>
                <a:rPr lang="en-US" sz="2400" b="1" dirty="0" err="1"/>
                <a:t>NorthWind</a:t>
              </a:r>
              <a:r>
                <a:rPr lang="en-US" sz="2400" b="1" dirty="0"/>
                <a:t> Retail Dataset</a:t>
              </a:r>
              <a:endParaRPr lang="en-IN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1789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54CF6-7ED8-F72A-5F46-AABDCF218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81280"/>
            <a:ext cx="12029440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5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C529D-275E-A98C-8E9D-F4A766653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71120"/>
            <a:ext cx="1200912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33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AE0CF-D717-7B24-F25B-746DE7E37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81280"/>
            <a:ext cx="1202944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79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97</TotalTime>
  <Words>325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mohammad mathin</dc:creator>
  <cp:lastModifiedBy>shaik mohammad mathin</cp:lastModifiedBy>
  <cp:revision>1</cp:revision>
  <dcterms:created xsi:type="dcterms:W3CDTF">2025-11-23T10:17:15Z</dcterms:created>
  <dcterms:modified xsi:type="dcterms:W3CDTF">2025-11-23T11:54:21Z</dcterms:modified>
</cp:coreProperties>
</file>